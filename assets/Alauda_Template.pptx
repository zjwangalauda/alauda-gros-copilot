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05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3BAEE4">
              <a:alpha val="8000"/>
            </a:srgbClr>
          </a:solidFill>
          <a:ln w="12700">
            <a:solidFill>
              <a:srgbClr val="0F2B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4B8A6">
              <a:alpha val="5000"/>
            </a:srgbClr>
          </a:solidFill>
          <a:ln w="12700">
            <a:solidFill>
              <a:srgbClr val="0F2B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 descr="alauda-logo-horizontal-white@4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640080"/>
            <a:ext cx="2191332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4630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That</a:t>
            </a:r>
            <a:endParaRPr lang="en-US" sz="4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Belongs to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sovereign, cloud-native and AI platform for containers,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models, and autonomous operations.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DC4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infrastructure. Your terms.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[Month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3BAEE4">
              <a:alpha val="7000"/>
            </a:srgbClr>
          </a:solidFill>
          <a:ln w="12700">
            <a:solidFill>
              <a:srgbClr val="0F2B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 descr="alauda-logo-horizontal-white@4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48640"/>
            <a:ext cx="182611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BA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[SECTION NUMBER]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2194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[Section Title]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291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[Brief section description or supporting text]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[Section Name]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5943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[Slide Title]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[Body text goes here. Use this area for explanations, key points, and supporting narrative. Keep text concise and audience-focused.]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2468880" cy="182880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2468880" cy="36576"/>
          </a:xfrm>
          <a:prstGeom prst="rect">
            <a:avLst/>
          </a:prstGeom>
          <a:solidFill>
            <a:srgbClr val="3BA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971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[Point 1 Title]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3703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[Brief description of this point]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37560" y="2834640"/>
            <a:ext cx="2468880" cy="182880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37560" y="2834640"/>
            <a:ext cx="2468880" cy="36576"/>
          </a:xfrm>
          <a:prstGeom prst="rect">
            <a:avLst/>
          </a:prstGeom>
          <a:solidFill>
            <a:srgbClr val="3BA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520440" y="2971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52044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[Point 2 Title]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20440" y="3703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[Brief description of this point]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834640"/>
            <a:ext cx="2468880" cy="182880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126480" y="2834640"/>
            <a:ext cx="2468880" cy="36576"/>
          </a:xfrm>
          <a:prstGeom prst="rect">
            <a:avLst/>
          </a:prstGeom>
          <a:solidFill>
            <a:srgbClr val="3BA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09360" y="29718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309360" y="3337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[Point 3 Title]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09360" y="3703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[Brief description of this point]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 |  Alauda  |  [Page #]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[Section Name]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5943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Alauda at a Glance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828800" cy="1371600"/>
          </a:xfrm>
          <a:prstGeom prst="rect">
            <a:avLst/>
          </a:prstGeom>
          <a:solidFill>
            <a:srgbClr val="EAF6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Customers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24328" y="1554480"/>
            <a:ext cx="1828800" cy="1371600"/>
          </a:xfrm>
          <a:prstGeom prst="rect">
            <a:avLst/>
          </a:prstGeom>
          <a:solidFill>
            <a:srgbClr val="EAF6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24328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2M+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624328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vCores in Production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0016" y="1554480"/>
            <a:ext cx="1828800" cy="1371600"/>
          </a:xfrm>
          <a:prstGeom prst="rect">
            <a:avLst/>
          </a:prstGeom>
          <a:solidFill>
            <a:srgbClr val="EAF6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00016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99.99%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4700016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Availability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75704" y="1554480"/>
            <a:ext cx="1828800" cy="1371600"/>
          </a:xfrm>
          <a:prstGeom prst="rect">
            <a:avLst/>
          </a:prstGeom>
          <a:solidFill>
            <a:srgbClr val="EAF6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75704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50%+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775704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 Reduction vs. OpenShift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Trusted by the world's largest banks, telcos, and governments. From DBS to ABSA, CIMB to Hong Kong Government — proven at scale across four continents.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 |  Alauda  |  [Page #]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[Section Name]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5943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[Slide Title]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[Supporting text that explains this topic in detail. Use this area for the main narrative, keeping it concise and scannable.]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[Key point one]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[Key point two]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[Key point three]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[Key point four]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0" y="777240"/>
            <a:ext cx="35661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0" y="77724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[Image / Diagram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Placeholder]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 |  Alauda  |  [Page #]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[Section Name]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5943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[Comparison Title]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108960" y="1463040"/>
            <a:ext cx="2651760" cy="4572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10896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[Competitor]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1463040"/>
            <a:ext cx="2651760" cy="457200"/>
          </a:xfrm>
          <a:prstGeom prst="rect">
            <a:avLst/>
          </a:prstGeom>
          <a:solidFill>
            <a:srgbClr val="3BA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360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Alauda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[Feature / Capability 1]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08960" y="2011680"/>
            <a:ext cx="265176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1089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[Detail]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43600" y="2011680"/>
            <a:ext cx="265176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[Detail]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51460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" y="2514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[Feature / Capability 2]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108960" y="2514600"/>
            <a:ext cx="26517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10896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[Detail]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943600" y="2514600"/>
            <a:ext cx="26517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[Detail]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301752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5800" y="3017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[Feature / Capability 3]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108960" y="3017520"/>
            <a:ext cx="265176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10896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[Detail]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943600" y="3017520"/>
            <a:ext cx="265176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94360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[Detail]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580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[Feature / Capability 4]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108960" y="3520440"/>
            <a:ext cx="26517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10896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[Detail]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943600" y="3520440"/>
            <a:ext cx="26517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943600" y="3520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[Detail]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4023360"/>
            <a:ext cx="237744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8580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[Feature / Capability 5]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108960" y="4023360"/>
            <a:ext cx="265176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10896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[Detail]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943600" y="4023360"/>
            <a:ext cx="265176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94360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[Detail]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 |  Alauda  |  [Page #]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5943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A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SUCCESS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[Customer Name]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[Brief description of the customer — industry, scale, geography]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2468880" cy="1188720"/>
          </a:xfrm>
          <a:prstGeom prst="rect">
            <a:avLst/>
          </a:prstGeom>
          <a:solidFill>
            <a:srgbClr val="EAF6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2377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[X%]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4864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[Result metric]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37560" y="2286000"/>
            <a:ext cx="2468880" cy="1188720"/>
          </a:xfrm>
          <a:prstGeom prst="rect">
            <a:avLst/>
          </a:prstGeom>
          <a:solidFill>
            <a:srgbClr val="EAF6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37560" y="2377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[X%]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33756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[Result metric]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2286000"/>
            <a:ext cx="2468880" cy="1188720"/>
          </a:xfrm>
          <a:prstGeom prst="rect">
            <a:avLst/>
          </a:prstGeom>
          <a:solidFill>
            <a:srgbClr val="EAF6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26480" y="2377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AE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[X%]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12648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[Result metric]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[Challenge]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4023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[Brief description of the customer's challenge]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33756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[Solution]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337560" y="4023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[How Alauda solved it]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2648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[Result]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26480" y="4023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[Quantified business outcome]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 |  Alauda  |  [Page #]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Alauda AI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777240"/>
            <a:ext cx="1280160" cy="320040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ALAUDA 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Sovereign AI Infrastructure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models, your agents, your accelerators, your infrastructure. Built on vLLM, KServe, and KEDA.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3520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High-performance model serving on any accelerator — NVIDIA, AMD, Intel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624328" y="292608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4328" y="2926080"/>
            <a:ext cx="18288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61488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761488" y="3520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Fine-tuning, RAG, and model management for enterprise use cases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00016" y="292608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00016" y="2926080"/>
            <a:ext cx="18288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37176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37176" y="3520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state, tool access, and safety guardrails for autonomous workflows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75704" y="292608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775704" y="2926080"/>
            <a:ext cx="18288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912864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Services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912864" y="3520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 orchestration, model registry, observability, and governance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 |  Alauda  |  [Page #]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[Section Name]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594360"/>
            <a:ext cx="8046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[Architecture / Diagram Title]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8046720" cy="31089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[Architecture Diagram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Screenshot Placeholder]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 |  Alauda  |  [Page #]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3BAEE4">
              <a:alpha val="8000"/>
            </a:srgbClr>
          </a:solidFill>
          <a:ln w="12700">
            <a:solidFill>
              <a:srgbClr val="0F2B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4B8A6">
              <a:alpha val="5000"/>
            </a:srgbClr>
          </a:solidFill>
          <a:ln w="12700">
            <a:solidFill>
              <a:srgbClr val="0F2B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 descr="alauda-logo-vertical-white@4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914400"/>
            <a:ext cx="11430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DC4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infrastructure. Your terms.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[Name]  |  [Title]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[email@alauda.io]  |  [phone]  |  alauda.io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4360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827"/>
                </a:solidFill>
                <a:latin typeface="Segoe U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57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3BAEE4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3657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1E293B"/>
                </a:solidFill>
                <a:latin typeface="Segoe UI"/>
              </a:rPr>
              <a:t>[Section Title]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50876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[Brief description of section content]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93392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39112"/>
            <a:ext cx="457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3BAEE4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39112"/>
            <a:ext cx="3657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1E293B"/>
                </a:solidFill>
                <a:latin typeface="Segoe UI"/>
              </a:rPr>
              <a:t>[Section Title]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039112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[Brief description of section content]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23744"/>
            <a:ext cx="80467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569463"/>
            <a:ext cx="457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3BAEE4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569463"/>
            <a:ext cx="3657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1E293B"/>
                </a:solidFill>
                <a:latin typeface="Segoe UI"/>
              </a:rPr>
              <a:t>[Section Title]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569463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[Brief description of section content]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54096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099815"/>
            <a:ext cx="457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3BAEE4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099815"/>
            <a:ext cx="3657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1E293B"/>
                </a:solidFill>
                <a:latin typeface="Segoe UI"/>
              </a:rPr>
              <a:t>[Section Title]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099815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[Brief description of section content]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84448"/>
            <a:ext cx="80467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630168"/>
            <a:ext cx="457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3BAEE4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630168"/>
            <a:ext cx="3657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1E293B"/>
                </a:solidFill>
                <a:latin typeface="Segoe UI"/>
              </a:rPr>
              <a:t>[Section Title]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630168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[Brief description of section content]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160520"/>
            <a:ext cx="4572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3BAEE4"/>
                </a:solidFill>
                <a:latin typeface="Segoe U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160520"/>
            <a:ext cx="36576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1E293B"/>
                </a:solidFill>
                <a:latin typeface="Segoe UI"/>
              </a:rPr>
              <a:t>[Section Title]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160520"/>
            <a:ext cx="31089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 i="0">
                <a:solidFill>
                  <a:srgbClr val="64748B"/>
                </a:solidFill>
                <a:latin typeface="Segoe UI"/>
              </a:rPr>
              <a:t>[Brief description of section content]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Confidential | Alauda | [Page #]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4360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827"/>
                </a:solidFill>
                <a:latin typeface="Segoe UI"/>
              </a:rPr>
              <a:t>[Comparison Title]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794760" cy="3108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79476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64748B"/>
                </a:solidFill>
                <a:latin typeface="Consolas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3429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Segoe UI"/>
              </a:rPr>
              <a:t>[Option A Title]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34290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475569"/>
                </a:solidFill>
                <a:latin typeface="Segoe UI"/>
              </a:rPr>
              <a:t>[Describe the current state, legacy approach, or first option. Include key characteristics and limitations.]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463040"/>
            <a:ext cx="3794760" cy="3108960"/>
          </a:xfrm>
          <a:prstGeom prst="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0600" y="1463040"/>
            <a:ext cx="3794760" cy="36576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3480" y="1645920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3BAEE4"/>
                </a:solidFill>
                <a:latin typeface="Consolas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965960"/>
            <a:ext cx="3429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E293B"/>
                </a:solidFill>
                <a:latin typeface="Segoe UI"/>
              </a:rPr>
              <a:t>[Option B Title]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423160"/>
            <a:ext cx="342900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  <a:latin typeface="Segoe UI"/>
              </a:rPr>
              <a:t>[Describe the new state, modern approach, or second option. Include key benefits and advantages.]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Confidential | Alauda | [Page #]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4360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827"/>
                </a:solidFill>
                <a:latin typeface="Segoe UI"/>
              </a:rPr>
              <a:t>[Capabilities Overview]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46888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00200" y="1600200"/>
            <a:ext cx="365760" cy="36576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3BA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[Capability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[Brief description of this capability or benefit]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63040"/>
            <a:ext cx="246888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89120" y="1600200"/>
            <a:ext cx="365760" cy="36576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3BA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20574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[Capability 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7744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[Brief description of this capability or benefit]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46888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78040" y="1600200"/>
            <a:ext cx="365760" cy="36576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3BA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0574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[Capability 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7744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[Brief description of this capability or benefit]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246888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600200" y="3337560"/>
            <a:ext cx="365760" cy="36576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3BA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[Capability 4]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[Brief description of this capability or benefit]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200400"/>
            <a:ext cx="246888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389120" y="3337560"/>
            <a:ext cx="365760" cy="36576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3BA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29000" y="379476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[Capability 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11480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[Brief description of this capability or benefit]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200400"/>
            <a:ext cx="246888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178040" y="3337560"/>
            <a:ext cx="365760" cy="36576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3BA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379476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[Capability 6]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114800"/>
            <a:ext cx="2286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[Brief description of this capability or benefit]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Confidential | Alauda | [Page #]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Testimonial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4360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914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200" b="1" i="0">
                <a:solidFill>
                  <a:srgbClr val="EAF6FC"/>
                </a:solidFill>
                <a:latin typeface="Segoe UI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E293B"/>
                </a:solidFill>
                <a:latin typeface="Segoe UI"/>
              </a:rPr>
              <a:t>[Insert customer or executive quote here. A compelling testimonial that speaks to the value of the solution and the impact on the business.]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1828800" cy="22860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11827"/>
                </a:solidFill>
                <a:latin typeface="Segoe UI"/>
              </a:rPr>
              <a:t>[Full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64748B"/>
                </a:solidFill>
                <a:latin typeface="Segoe UI"/>
              </a:rPr>
              <a:t>[Title, Company]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3794760"/>
            <a:ext cx="173736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794760"/>
            <a:ext cx="1737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[Logo]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Confidential | Alauda | [Page #]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4360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827"/>
                </a:solidFill>
                <a:latin typeface="Segoe UI"/>
              </a:rPr>
              <a:t>[Process Title]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956816"/>
            <a:ext cx="585216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463040" y="1691640"/>
            <a:ext cx="548640" cy="548640"/>
          </a:xfrm>
          <a:prstGeom prst="ellipse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[Step 1 Title]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1828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[Description of what happens in this step]</a:t>
            </a:r>
          </a:p>
        </p:txBody>
      </p:sp>
      <p:sp>
        <p:nvSpPr>
          <p:cNvPr id="11" name="Oval 10"/>
          <p:cNvSpPr/>
          <p:nvPr/>
        </p:nvSpPr>
        <p:spPr>
          <a:xfrm>
            <a:off x="3410712" y="1691640"/>
            <a:ext cx="548640" cy="548640"/>
          </a:xfrm>
          <a:prstGeom prst="ellipse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42316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[Step 2 Title]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788920"/>
            <a:ext cx="1828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[Description of what happens in this step]</a:t>
            </a:r>
          </a:p>
        </p:txBody>
      </p:sp>
      <p:sp>
        <p:nvSpPr>
          <p:cNvPr id="14" name="Oval 13"/>
          <p:cNvSpPr/>
          <p:nvPr/>
        </p:nvSpPr>
        <p:spPr>
          <a:xfrm>
            <a:off x="5367528" y="1691640"/>
            <a:ext cx="548640" cy="548640"/>
          </a:xfrm>
          <a:prstGeom prst="ellipse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42316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[Step 3 Title]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788920"/>
            <a:ext cx="1828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[Description of what happens in this step]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1691640"/>
            <a:ext cx="548640" cy="548640"/>
          </a:xfrm>
          <a:prstGeom prst="ellipse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2316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E293B"/>
                </a:solidFill>
                <a:latin typeface="Segoe UI"/>
              </a:rPr>
              <a:t>[Step 4 Title]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88920"/>
            <a:ext cx="1828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  <a:latin typeface="Segoe UI"/>
              </a:rPr>
              <a:t>[Description of what happens in this step]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Confidential | Alauda | [Page #]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4360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827"/>
                </a:solidFill>
                <a:latin typeface="Segoe UI"/>
              </a:rPr>
              <a:t>[Impact Title]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794760" cy="1463040"/>
          </a:xfrm>
          <a:prstGeom prst="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7947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1" i="0">
                <a:solidFill>
                  <a:srgbClr val="3BAEE4"/>
                </a:solidFill>
                <a:latin typeface="Segoe UI"/>
              </a:rPr>
              <a:t>[XX%]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3794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475569"/>
                </a:solidFill>
                <a:latin typeface="Segoe UI"/>
              </a:rPr>
              <a:t>[Metric Label]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554480"/>
            <a:ext cx="3794760" cy="1463040"/>
          </a:xfrm>
          <a:prstGeom prst="rect">
            <a:avLst/>
          </a:prstGeom>
          <a:solidFill>
            <a:srgbClr val="EA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645920"/>
            <a:ext cx="3794760" cy="822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800" b="1" i="0">
                <a:solidFill>
                  <a:srgbClr val="3BAEE4"/>
                </a:solidFill>
                <a:latin typeface="Segoe UI"/>
              </a:rPr>
              <a:t>[XX%]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423160"/>
            <a:ext cx="3794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475569"/>
                </a:solidFill>
                <a:latin typeface="Segoe UI"/>
              </a:rPr>
              <a:t>[Metric Label]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Segoe UI"/>
              </a:rPr>
              <a:t>[Supporting narrative that provides context for the metrics above. Explain the business impact and what these numbers mean for the customer.]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Confidential | Alauda | [Page #]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4360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827"/>
                </a:solidFill>
                <a:latin typeface="Segoe UI"/>
              </a:rPr>
              <a:t>[Customers &amp; Partners]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4748B"/>
                </a:solidFill>
                <a:latin typeface="Segoe UI"/>
              </a:rPr>
              <a:t>[Trusted by leading enterprises across industries]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24688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46888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[Logo]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828800"/>
            <a:ext cx="24688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246888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[Logo]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4688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828800"/>
            <a:ext cx="246888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[Logo]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24688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246888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[Logo]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3200400"/>
            <a:ext cx="24688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3200400"/>
            <a:ext cx="246888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[Logo]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200400"/>
            <a:ext cx="246888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3200400"/>
            <a:ext cx="2468880" cy="11887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[Logo]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Confidential | Alauda | [Page #]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Leadership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4360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827"/>
                </a:solidFill>
                <a:latin typeface="Segoe UI"/>
              </a:rPr>
              <a:t>[Leadership Team]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554480"/>
            <a:ext cx="822960" cy="82296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11827"/>
                </a:solidFill>
                <a:latin typeface="Segoe UI"/>
              </a:rPr>
              <a:t>[Full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64748B"/>
                </a:solidFill>
                <a:latin typeface="Segoe UI"/>
              </a:rPr>
              <a:t>[Title / Role]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2468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[Brief biography or relevant background. Key achievements and expertise areas.]</a:t>
            </a:r>
          </a:p>
        </p:txBody>
      </p:sp>
      <p:sp>
        <p:nvSpPr>
          <p:cNvPr id="11" name="Oval 10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25146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11827"/>
                </a:solidFill>
                <a:latin typeface="Segoe UI"/>
              </a:rPr>
              <a:t>[Full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3464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64748B"/>
                </a:solidFill>
                <a:latin typeface="Segoe UI"/>
              </a:rPr>
              <a:t>[Title / Role]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54680"/>
            <a:ext cx="2468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[Brief biography or relevant background. Key achievements and expertise areas.]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1554480"/>
            <a:ext cx="822960" cy="82296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5146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11827"/>
                </a:solidFill>
                <a:latin typeface="Segoe UI"/>
              </a:rPr>
              <a:t>[Full Name]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83464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64748B"/>
                </a:solidFill>
                <a:latin typeface="Segoe UI"/>
              </a:rPr>
              <a:t>[Title / Role]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24688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5569"/>
                </a:solidFill>
                <a:latin typeface="Segoe UI"/>
              </a:rPr>
              <a:t>[Brief biography or relevant background. Key achievements and expertise areas.]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Confidential | Alauda | [Page #]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64748B"/>
                </a:solidFill>
                <a:latin typeface="Segoe U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94360"/>
            <a:ext cx="804672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11827"/>
                </a:solidFill>
                <a:latin typeface="Segoe UI"/>
              </a:rPr>
              <a:t>[Roadmap Title]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804672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25880" y="2071116"/>
            <a:ext cx="274320" cy="274320"/>
          </a:xfrm>
          <a:prstGeom prst="ellipse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3BAEE4"/>
                </a:solidFill>
                <a:latin typeface="Segoe UI"/>
              </a:rPr>
              <a:t>[Q1 20XX]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E293B"/>
                </a:solidFill>
                <a:latin typeface="Segoe UI"/>
              </a:rPr>
              <a:t>[Milestone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1645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[Description of deliverables or goals for this milestone]</a:t>
            </a:r>
          </a:p>
        </p:txBody>
      </p:sp>
      <p:sp>
        <p:nvSpPr>
          <p:cNvPr id="12" name="Oval 11"/>
          <p:cNvSpPr/>
          <p:nvPr/>
        </p:nvSpPr>
        <p:spPr>
          <a:xfrm>
            <a:off x="3383280" y="2071116"/>
            <a:ext cx="274320" cy="274320"/>
          </a:xfrm>
          <a:prstGeom prst="ellipse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80" y="15544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3BAEE4"/>
                </a:solidFill>
                <a:latin typeface="Segoe UI"/>
              </a:rPr>
              <a:t>[Q2 20XX]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5603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E293B"/>
                </a:solidFill>
                <a:latin typeface="Segoe UI"/>
              </a:rPr>
              <a:t>[Milestone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880360"/>
            <a:ext cx="1645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[Description of deliverables or goals for this milestone]</a:t>
            </a:r>
          </a:p>
        </p:txBody>
      </p:sp>
      <p:sp>
        <p:nvSpPr>
          <p:cNvPr id="16" name="Oval 15"/>
          <p:cNvSpPr/>
          <p:nvPr/>
        </p:nvSpPr>
        <p:spPr>
          <a:xfrm>
            <a:off x="5440679" y="2071116"/>
            <a:ext cx="274320" cy="274320"/>
          </a:xfrm>
          <a:prstGeom prst="ellipse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79" y="15544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3BAEE4"/>
                </a:solidFill>
                <a:latin typeface="Segoe UI"/>
              </a:rPr>
              <a:t>[Q3 20XX]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5603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E293B"/>
                </a:solidFill>
                <a:latin typeface="Segoe UI"/>
              </a:rPr>
              <a:t>[Milestone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2880360"/>
            <a:ext cx="1645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[Description of deliverables or goals for this milestone]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2071116"/>
            <a:ext cx="274320" cy="274320"/>
          </a:xfrm>
          <a:prstGeom prst="ellipse">
            <a:avLst/>
          </a:prstGeom>
          <a:solidFill>
            <a:srgbClr val="3BA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79" y="155448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3BAEE4"/>
                </a:solidFill>
                <a:latin typeface="Segoe UI"/>
              </a:rPr>
              <a:t>[Q4 20XX]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256032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1E293B"/>
                </a:solidFill>
                <a:latin typeface="Segoe UI"/>
              </a:rPr>
              <a:t>[Milestone 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2880360"/>
            <a:ext cx="16459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[Description of deliverables or goals for this milestone]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4A3B8"/>
                </a:solidFill>
                <a:latin typeface="Segoe UI"/>
              </a:rPr>
              <a:t>Confidential | Alauda | [Page #]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lauda-logo-horizontal-white@4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8640"/>
            <a:ext cx="1565237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828800"/>
            <a:ext cx="5943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Infrastructure That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Belongs to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5029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The sovereign, cloud-native and AI platform for containers, models, and autonomous operations. Proven across 500+ enterprises. Built on open standards. No vendor dependency.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6DC4EC"/>
                </a:solidFill>
                <a:latin typeface="Segoe UI"/>
              </a:rPr>
              <a:t>Your infrastructure. Your terms.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826110" cy="32004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4B8A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EAD4"/>
                </a:solidFill>
              </a:rPr>
              <a:t>[SECTION NUMBER]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[AI Section Title]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[Brief section description for AI-related content]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Alauda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Confidential  |  Alauda  |  [Page #]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[AI Slide Title]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[Supporting text for AI content. Describe the capability, architecture, or workflow.]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→  [Key point one]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→  [Key point two]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→  [Key point three]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→  [Key point four]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731520"/>
            <a:ext cx="356616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731520"/>
            <a:ext cx="356616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01168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[Architecture Diagram
or Screenshot]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Alauda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Confidential  |  Alauda  |  [Page #]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[AI Metrics Title]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EEAD4"/>
                </a:solidFill>
              </a:rPr>
              <a:t>[XX]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[Metric Label]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EEAD4"/>
                </a:solidFill>
              </a:rPr>
              <a:t>[XX]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[Metric Label]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EEAD4"/>
                </a:solidFill>
              </a:rPr>
              <a:t>[XX]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860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[Metric Label]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804672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[Supporting narrative that provides context for the AI metrics above.]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Alauda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Confidential  |  Alauda  |  [Page #]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[AI Capabilities]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[Overview text describing the AI capabilities being presented]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496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496312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2130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[Capability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130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[Brief description of this AI capability or benefit for the enterprise]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2011680"/>
            <a:ext cx="2496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7832" y="2011680"/>
            <a:ext cx="2496312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2194560"/>
            <a:ext cx="2130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[Capability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560320"/>
            <a:ext cx="2130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[Brief description of this AI capability or benefit for the enterprise]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16168" y="2011680"/>
            <a:ext cx="2496312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6168" y="2011680"/>
            <a:ext cx="2496312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2194560"/>
            <a:ext cx="2130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[Capability 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560320"/>
            <a:ext cx="2130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[Brief description of this AI capability or benefit for the enterprise]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Alauda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Confidential  |  Alauda  |  [Page #]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[AI Comparison Title]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657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EAD4"/>
                </a:solidFill>
              </a:rPr>
              <a:t>WITHOUT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[Legacy Approach]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[Describe the current state, limitations, or challenges without the AI solution.]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37760" y="1645920"/>
            <a:ext cx="36576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737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EEAD4"/>
                </a:solidFill>
              </a:rPr>
              <a:t>WITH ALAUDA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[AI-Powered Approach]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560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[Describe the new state with Alauda AI. Benefits, speed improvements, and outcomes.]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Alauda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Confidential  |  Alauda  |  [Page #]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[AI Architecture Title]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8046720" cy="3108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804672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</a:rPr>
              <a:t>[AI Architecture Diagram or System Screenshot]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82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Alauda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Confidential  |  Alauda  |  [Page #]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[AI Pipeline Title]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155448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[Step 1 Title]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[Description of what happens in this step of the AI pipeline]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59" y="1664208"/>
            <a:ext cx="457200" cy="22860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54680" y="155448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[Step 2 Title]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[Description of what happens in this step of the AI pipeline]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34839" y="1664208"/>
            <a:ext cx="457200" cy="22860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66360" y="155448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[Step 3 Title]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[Description of what happens in this step of the AI pipeline]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46519" y="1664208"/>
            <a:ext cx="457200" cy="22860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78040" y="155448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</a:rPr>
              <a:t>[Step 4 Title]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[Description of what happens in this step of the AI pipeline]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1174</Words>
  <Application>Microsoft Macintosh PowerPoint</Application>
  <PresentationFormat>On-screen Show (16:9)</PresentationFormat>
  <Paragraphs>232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Alauda Presale Template</dc:title>
  <dc:subject>PptxGenJS Presentation</dc:subject>
  <dc:creator>Alauda Presale</dc:creator>
  <cp:lastModifiedBy>Yue Zuo</cp:lastModifiedBy>
  <cp:revision>2</cp:revision>
  <dcterms:created xsi:type="dcterms:W3CDTF">2026-02-08T17:42:23Z</dcterms:created>
  <dcterms:modified xsi:type="dcterms:W3CDTF">2026-02-18T20:11:09Z</dcterms:modified>
</cp:coreProperties>
</file>